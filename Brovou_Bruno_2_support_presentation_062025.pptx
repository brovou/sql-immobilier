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7" r:id="rId13"/>
    <p:sldId id="268" r:id="rId14"/>
    <p:sldId id="269" r:id="rId15"/>
    <p:sldId id="270" r:id="rId16"/>
    <p:sldId id="271" r:id="rId17"/>
    <p:sldId id="272" r:id="rId18"/>
    <p:sldId id="266" r:id="rId19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983" autoAdjust="0"/>
  </p:normalViewPr>
  <p:slideViewPr>
    <p:cSldViewPr snapToGrid="0">
      <p:cViewPr varScale="1">
        <p:scale>
          <a:sx n="125" d="100"/>
          <a:sy n="125" d="100"/>
        </p:scale>
        <p:origin x="115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40BCD639-2090-A071-2606-E6788A68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5C3F8B4C-478C-2350-4CA0-092D386C5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7D67BED6-9866-CD91-611E-CAA94FF5E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3BD09183-57C5-BD61-C94A-7D4CBFE52F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128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11964F9E-7671-BA9F-CA8D-F3F4837A4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B9EDA604-CD0D-734A-C25C-CD09657FC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0CC6550F-555F-B812-9E72-4C315BFDE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CE6B8D09-2869-B5AE-21CF-CB510DF215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596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6CCC89C6-D91C-3EF5-6146-37A21BD6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D6049C53-C35B-6B0A-CA85-0685B7A92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3F354365-1A2F-32A8-F7A0-A40517832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5688A36F-C050-92CB-BAA1-9013D2CAA2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5615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EB897919-826D-366F-CEEA-E0A4FA44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1C419CA4-C0C7-A747-3D0E-A0CF495B80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3E71EBD4-5B2C-5DA7-7D7D-3D16BEDFC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736A8079-E1F5-7380-498F-84DF38BF0F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108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A09F73BD-FA14-A11D-F9DC-AAA25109F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C93B19AB-368C-E832-96BD-106041F7CE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416CF5F0-7471-4750-1F9E-A8CE9F1C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038F44D3-9E37-3F38-ADFF-8CB87B850A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1723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6F804C8B-A97C-EA9B-44E6-DB05CA65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94037BA4-7D8D-44C9-A55D-47DA07BF5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7BE4E4A3-DAB3-8FD0-574E-69CA14F9C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E22DBC60-2645-D95F-63E5-4EC59C5E7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297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0B884E16-2996-0628-DBB5-7AC91206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>
            <a:extLst>
              <a:ext uri="{FF2B5EF4-FFF2-40B4-BE49-F238E27FC236}">
                <a16:creationId xmlns:a16="http://schemas.microsoft.com/office/drawing/2014/main" id="{345399D7-1FA3-4613-442A-6CC796BD9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>
            <a:extLst>
              <a:ext uri="{FF2B5EF4-FFF2-40B4-BE49-F238E27FC236}">
                <a16:creationId xmlns:a16="http://schemas.microsoft.com/office/drawing/2014/main" id="{3571F15B-CBD6-5D63-7E13-873A54FCA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>
            <a:extLst>
              <a:ext uri="{FF2B5EF4-FFF2-40B4-BE49-F238E27FC236}">
                <a16:creationId xmlns:a16="http://schemas.microsoft.com/office/drawing/2014/main" id="{2C2365EC-5B33-8FF6-764B-0D1EF5FFAA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632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0" y="1889760"/>
            <a:ext cx="3943109" cy="82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et utilisation de la base de données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840217" y="2728404"/>
            <a:ext cx="3640754" cy="32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Bruno BROVOU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253897" y="360608"/>
            <a:ext cx="5506967" cy="36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du projet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25295" y="794244"/>
            <a:ext cx="5483061" cy="399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indent="0" algn="just">
              <a:lnSpc>
                <a:spcPct val="150000"/>
              </a:lnSpc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tant que Data </a:t>
            </a:r>
            <a:r>
              <a:rPr lang="fr-FR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chez Laplace </a:t>
            </a:r>
            <a:r>
              <a:rPr lang="fr-FR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Immo</a:t>
            </a: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 réseau national d’agences immobilières, ma contribution au projet stratégique visant à améliorer l’estimation des prix des biens immobiliers grâce à un modèle prédictif. Ce projet, baptisé </a:t>
            </a:r>
            <a:r>
              <a:rPr lang="fr-FR" sz="1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DATAImmo</a:t>
            </a: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est porté par la direction générale, avec la CTO Clara </a:t>
            </a:r>
            <a:r>
              <a:rPr lang="fr-FR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Daucourt</a:t>
            </a: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la tête de la modernisation de la base de données transactionnelle.</a:t>
            </a:r>
          </a:p>
          <a:p>
            <a:pPr algn="just">
              <a:lnSpc>
                <a:spcPct val="150000"/>
              </a:lnSpc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mission consiste à refondre le schéma relationnel afin d’intégrer :</a:t>
            </a:r>
          </a:p>
          <a:p>
            <a:pPr marL="9715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référentiels géographiques (régions, communes, population 2020),</a:t>
            </a:r>
          </a:p>
          <a:p>
            <a:pPr marL="9715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caractéristiques des biens (logements, surfaces, nombre de pièces, type),</a:t>
            </a:r>
          </a:p>
          <a:p>
            <a:pPr marL="9715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mutations foncières DVF (dates, montants, identifiants).</a:t>
            </a:r>
          </a:p>
          <a:p>
            <a:pPr marL="228600" indent="0">
              <a:lnSpc>
                <a:spcPct val="150000"/>
              </a:lnSpc>
            </a:pP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fois la base mise à jour, vous y importerez des fichiers Excel pré-nettoyés convertis en CSV, puis exploiterez ces données pour réaliser diverses analyses (historique, comparaisons régionales, prix au m², évolutions trimestrielles). L’objectif final est de concevoir un modèle de prédiction des prix qui aidera les agences à mieux accompagner leurs clients dans leurs transactions.</a:t>
            </a:r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5508356" y="0"/>
            <a:ext cx="3635644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11516" y="376237"/>
            <a:ext cx="7491880" cy="43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stratégie de sauvegarde et la conformité RGPD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424267" y="875563"/>
            <a:ext cx="8402018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Stratégie de sauvegarde pour 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DATAImmo</a:t>
            </a: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lvl="0" indent="-177800">
              <a:spcBef>
                <a:spcPts val="0"/>
              </a:spcBef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endParaRPr lang="fr-F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lvl="0" indent="-177800">
              <a:spcBef>
                <a:spcPts val="0"/>
              </a:spcBef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Conformité RGPD pour les données DVF</a:t>
            </a:r>
          </a:p>
          <a:p>
            <a:pPr marL="0" lvl="0" indent="0">
              <a:spcBef>
                <a:spcPts val="0"/>
              </a:spcBef>
              <a:buNone/>
            </a:pPr>
            <a:endParaRPr sz="1100"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9FA00A3-0B5A-67B9-7AAB-A1C2EEB82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700081"/>
              </p:ext>
            </p:extLst>
          </p:nvPr>
        </p:nvGraphicFramePr>
        <p:xfrm>
          <a:off x="424267" y="1147379"/>
          <a:ext cx="8295465" cy="1210940"/>
        </p:xfrm>
        <a:graphic>
          <a:graphicData uri="http://schemas.openxmlformats.org/drawingml/2006/table">
            <a:tbl>
              <a:tblPr/>
              <a:tblGrid>
                <a:gridCol w="2444767">
                  <a:extLst>
                    <a:ext uri="{9D8B030D-6E8A-4147-A177-3AD203B41FA5}">
                      <a16:colId xmlns:a16="http://schemas.microsoft.com/office/drawing/2014/main" val="3690791684"/>
                    </a:ext>
                  </a:extLst>
                </a:gridCol>
                <a:gridCol w="5850698">
                  <a:extLst>
                    <a:ext uri="{9D8B030D-6E8A-4147-A177-3AD203B41FA5}">
                      <a16:colId xmlns:a16="http://schemas.microsoft.com/office/drawing/2014/main" val="852061780"/>
                    </a:ext>
                  </a:extLst>
                </a:gridCol>
              </a:tblGrid>
              <a:tr h="240097">
                <a:tc>
                  <a:txBody>
                    <a:bodyPr/>
                    <a:lstStyle/>
                    <a:p>
                      <a:r>
                        <a:rPr lang="fr-C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Objectifs</a:t>
                      </a: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Descriptions</a:t>
                      </a: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893397"/>
                  </a:ext>
                </a:extLst>
              </a:tr>
              <a:tr h="177756">
                <a:tc>
                  <a:txBody>
                    <a:bodyPr/>
                    <a:lstStyle/>
                    <a:p>
                      <a:r>
                        <a:rPr lang="fr-FR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Résilience et tolérance aux pannes</a:t>
                      </a:r>
                      <a:endParaRPr lang="fr-CI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Sauvegardes chiffrées et répliquées sur deux régions géographiques pour résister à l’incendie ou sinistre local.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171668"/>
                  </a:ext>
                </a:extLst>
              </a:tr>
              <a:tr h="187238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Conformité aux bonnes pratiques</a:t>
                      </a: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Politique de rétention, rotation automatique et chiffrement répondant aux standards IT et aux audits.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46661"/>
                  </a:ext>
                </a:extLst>
              </a:tr>
              <a:tr h="188331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Intégrité garantie</a:t>
                      </a: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 de restauration trimestriels validant l’absence de corruption et la cohérence référentielle.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276561"/>
                  </a:ext>
                </a:extLst>
              </a:tr>
              <a:tr h="140508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Sécurité renforcée</a:t>
                      </a: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Accès restreint aux sauvegardes, chiffrement au repos et suivi des échecs via alertes automatiques.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88" marR="89788" marT="44894" marB="44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54979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112D553-936E-816D-FF61-908C805D7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610644"/>
              </p:ext>
            </p:extLst>
          </p:nvPr>
        </p:nvGraphicFramePr>
        <p:xfrm>
          <a:off x="424268" y="2768247"/>
          <a:ext cx="8295464" cy="1181680"/>
        </p:xfrm>
        <a:graphic>
          <a:graphicData uri="http://schemas.openxmlformats.org/drawingml/2006/table">
            <a:tbl>
              <a:tblPr/>
              <a:tblGrid>
                <a:gridCol w="2453155">
                  <a:extLst>
                    <a:ext uri="{9D8B030D-6E8A-4147-A177-3AD203B41FA5}">
                      <a16:colId xmlns:a16="http://schemas.microsoft.com/office/drawing/2014/main" val="1124988286"/>
                    </a:ext>
                  </a:extLst>
                </a:gridCol>
                <a:gridCol w="5842309">
                  <a:extLst>
                    <a:ext uri="{9D8B030D-6E8A-4147-A177-3AD203B41FA5}">
                      <a16:colId xmlns:a16="http://schemas.microsoft.com/office/drawing/2014/main" val="3227207385"/>
                    </a:ext>
                  </a:extLst>
                </a:gridCol>
              </a:tblGrid>
              <a:tr h="157376">
                <a:tc>
                  <a:txBody>
                    <a:bodyPr/>
                    <a:lstStyle/>
                    <a:p>
                      <a:r>
                        <a:rPr lang="fr-CI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Exigence RGPD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Mise en œuvre </a:t>
                      </a:r>
                      <a:r>
                        <a:rPr lang="fr-CI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DATAImmo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304010"/>
                  </a:ext>
                </a:extLst>
              </a:tr>
              <a:tr h="268608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Minimisation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tables seulement, pas d’adresses complètes, pas de noms explicites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885007"/>
                  </a:ext>
                </a:extLst>
              </a:tr>
              <a:tr h="157376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de finalité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exclusif : analyse 2020 &amp; modèle prédictif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51357"/>
                  </a:ext>
                </a:extLst>
              </a:tr>
              <a:tr h="157376">
                <a:tc>
                  <a:txBody>
                    <a:bodyPr/>
                    <a:lstStyle/>
                    <a:p>
                      <a:r>
                        <a:rPr lang="fr-CI" sz="1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Pseudonymisation</a:t>
                      </a:r>
                      <a:endParaRPr lang="fr-CI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Hash_acquereur</a:t>
                      </a:r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C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remplace le nom clair.</a:t>
                      </a:r>
                      <a:endParaRPr lang="fr-FR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229763"/>
                  </a:ext>
                </a:extLst>
              </a:tr>
              <a:tr h="157376">
                <a:tc>
                  <a:txBody>
                    <a:bodyPr/>
                    <a:lstStyle/>
                    <a:p>
                      <a:r>
                        <a:rPr lang="fr-C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Sécurité</a:t>
                      </a:r>
                      <a:r>
                        <a:rPr lang="fr-C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Chiffrement des backups, ACL strictes, </a:t>
                      </a:r>
                      <a:r>
                        <a:rPr lang="fr-FR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</a:t>
                      </a:r>
                      <a:r>
                        <a:rPr lang="fr-F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d’accès.</a:t>
                      </a:r>
                    </a:p>
                  </a:txBody>
                  <a:tcPr marL="75868" marR="75868" marT="37934" marB="37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825312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B4434907-7098-D714-A324-8F9A064E6674}"/>
              </a:ext>
            </a:extLst>
          </p:cNvPr>
          <p:cNvSpPr txBox="1"/>
          <p:nvPr/>
        </p:nvSpPr>
        <p:spPr>
          <a:xfrm>
            <a:off x="424268" y="4097323"/>
            <a:ext cx="82954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DATAImmo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mis en place un </a:t>
            </a:r>
            <a:r>
              <a:rPr lang="fr-F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de sauvegarde sécurisé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combinant des sauvegardes complètes et incrémentales répliquées sur deux régions, avec des contrôles stricts et des tests réguliers pour garantir l’intégrité des données. Pour assurer la </a:t>
            </a:r>
            <a:r>
              <a:rPr lang="fr-F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conformité RGPD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seules les informations essentielles sont conservées, </a:t>
            </a:r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pseudonymisées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chiffrées, avec une gestion rigoureuse des accès et des audits semestriels.</a:t>
            </a:r>
          </a:p>
          <a:p>
            <a:pPr algn="just"/>
            <a:endParaRPr lang="fr-CI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4C18AC74-373D-C567-5C15-BB634E2802C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253897" y="182871"/>
            <a:ext cx="4689794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initiales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253896" y="645787"/>
            <a:ext cx="8471649" cy="412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initiales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(celles que nous avons reçues en début de projet, avant toute transformation) sont au nombre de trois grands jeux :</a:t>
            </a:r>
          </a:p>
          <a:p>
            <a:pPr marL="0" lv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Les transactions foncières DVF</a:t>
            </a: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Fichier : Valeurs-foncières.xlsx</a:t>
            </a: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Contenu :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mutations à titre onéreux en France pour 2020, avec pour chaque ligne : (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Identifiant local du bien, Code postal, Code ID commune” DVF, Type de mutation (Vente, Donation…), Valeur foncière, Date de mutation, Caractéristiques du bien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surface Carrez, nombre de pièces principales, type de local, etc.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Le recensement INSEE 2020</a:t>
            </a: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Fichier : extrait population dans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données_communes,xlsx</a:t>
            </a:r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Contenu : pour chaque commune INSEE (code 5 chiffres) : Pop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ulation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municipale (PMUN), P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opulation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comptée à part (PCAP), Population totale (PTOT = PMUN + PCAP)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Le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référentiel géographique officiel</a:t>
            </a: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Fichiers : fr-esr-referentiel-géographique.xlsx (Plus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éventuellement un autre onglet de données_communes.xlsx)</a:t>
            </a:r>
          </a:p>
          <a:p>
            <a:pPr marL="628650" lvl="1" indent="-1714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Contenu : Liste des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régions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(code 2 chiffres, nom officiel, ancien nom, groupe géographique, id source), Liste des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départements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(code 2 chiffres, nom, rattachement région), Liste des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communes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(code INSEE 5 chiffres, nom, rattachements département &amp; région, académie, découpage urbain…)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partir de ces trois sources, nous avons :</a:t>
            </a:r>
          </a:p>
          <a:p>
            <a:pPr marL="742950" lvl="1" indent="-2857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Nettoyé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aligné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codes (postal → code commune INSEE → rattachements géographiques)</a:t>
            </a:r>
          </a:p>
          <a:p>
            <a:pPr marL="742950" lvl="1" indent="-2857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Sélectionné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formaté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colonnes utiles (surfaces, dates, valeurs, population)</a:t>
            </a:r>
          </a:p>
          <a:p>
            <a:pPr marL="742950" lvl="1" indent="-285750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Exporté en CSV quatre tables :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fr-FR" sz="900">
                <a:latin typeface="Times New Roman" panose="02020603050405020304" pitchFamily="18" charset="0"/>
                <a:cs typeface="Times New Roman" panose="02020603050405020304" pitchFamily="18" charset="0"/>
              </a:rPr>
              <a:t>, Commune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Bien, Vente.</a:t>
            </a:r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9;p34">
            <a:extLst>
              <a:ext uri="{FF2B5EF4-FFF2-40B4-BE49-F238E27FC236}">
                <a16:creationId xmlns:a16="http://schemas.microsoft.com/office/drawing/2014/main" id="{F3DB3035-2888-D52B-7E17-431C03F334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228602" y="102393"/>
            <a:ext cx="5263500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L’extrait du dictionnaire des données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8D851E4A-E61E-F7EC-F3D9-52222F4A09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0A14AF-E21A-AE75-E52B-3B2DE843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578695"/>
            <a:ext cx="8840818" cy="65986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7D88508-1C6C-B299-E771-9D080A21F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2" y="2764653"/>
            <a:ext cx="8840818" cy="73987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621BBAD-489F-8B36-1CC1-4F127D1EB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2" y="3546832"/>
            <a:ext cx="8840818" cy="123715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B9D40DB-8762-EF04-32AE-ABDBAC8ED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897" y="1255510"/>
            <a:ext cx="8840818" cy="145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90523" y="157015"/>
            <a:ext cx="4689794" cy="39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schéma relationnel normalisé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9;p34">
            <a:extLst>
              <a:ext uri="{FF2B5EF4-FFF2-40B4-BE49-F238E27FC236}">
                <a16:creationId xmlns:a16="http://schemas.microsoft.com/office/drawing/2014/main" id="{A2A9669A-CB71-72E8-068D-CC0F295F60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F21C1A-5AA7-C260-655A-205BA84CE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98" y="525931"/>
            <a:ext cx="6722222" cy="4295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53897" y="221885"/>
            <a:ext cx="5336101" cy="733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base de données avec les tables créées et les données chargées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9;p34">
            <a:extLst>
              <a:ext uri="{FF2B5EF4-FFF2-40B4-BE49-F238E27FC236}">
                <a16:creationId xmlns:a16="http://schemas.microsoft.com/office/drawing/2014/main" id="{0B3EED9D-2998-CE3B-D210-15876BFEBF1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7F6B93-BE7E-B804-ACAD-CD2E961A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572" y="0"/>
            <a:ext cx="1507013" cy="51435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D945877-6AE0-53DF-8627-0F2E6853E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9" y="974617"/>
            <a:ext cx="3875870" cy="1651210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36B8006-53D5-11DA-9AB7-2C680FA92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9" y="2776773"/>
            <a:ext cx="3517422" cy="2015657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4FEC739-6D2D-902E-81FF-C5196056E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371" y="430399"/>
            <a:ext cx="2084390" cy="201971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CC68464-0DD3-C8E7-A5F4-CF00BA86C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8428" y="2547404"/>
            <a:ext cx="2790513" cy="251887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289378" y="433952"/>
            <a:ext cx="6374488" cy="693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ou screenshot qui permettent de démontrer le bon chargement des données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Google Shape;322;p40"/>
          <p:cNvSpPr txBox="1">
            <a:spLocks noGrp="1"/>
          </p:cNvSpPr>
          <p:nvPr>
            <p:ph type="body" idx="2"/>
          </p:nvPr>
        </p:nvSpPr>
        <p:spPr>
          <a:xfrm>
            <a:off x="390523" y="1219200"/>
            <a:ext cx="6917057" cy="349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lang="fr-CI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</a:t>
            </a:r>
            <a:b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2377440"/>
            <a:ext cx="4141558" cy="45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Requêtes SQL et résultats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just">
              <a:spcBef>
                <a:spcPts val="0"/>
              </a:spcBef>
            </a:pP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 requêtes nous donnent une </a:t>
            </a:r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détaillée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marché 2020 et en dégagent les </a:t>
            </a:r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essentiels (volumes, prix, segmentation) : c’est la pierre angulaire de la </a:t>
            </a:r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stratégie de </a:t>
            </a:r>
            <a:r>
              <a:rPr lang="fr-FR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pricing</a:t>
            </a:r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prédictive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du </a:t>
            </a:r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positionnement régional des agences Laplace </a:t>
            </a:r>
            <a:r>
              <a:rPr lang="fr-FR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Immo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CFFEE912-7E48-AA25-D693-0E1F7AF5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>
            <a:extLst>
              <a:ext uri="{FF2B5EF4-FFF2-40B4-BE49-F238E27FC236}">
                <a16:creationId xmlns:a16="http://schemas.microsoft.com/office/drawing/2014/main" id="{CF9EE652-6D09-52D1-51F0-DDE5C7607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Google Shape;322;p40">
            <a:extLst>
              <a:ext uri="{FF2B5EF4-FFF2-40B4-BE49-F238E27FC236}">
                <a16:creationId xmlns:a16="http://schemas.microsoft.com/office/drawing/2014/main" id="{7D9E219C-5AC9-E47B-1DAD-CE66FBE23C3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0522" y="546275"/>
            <a:ext cx="8753477" cy="422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Nombre total d’appartements vendus au 1er semestre 2020.</a:t>
            </a:r>
          </a:p>
          <a:p>
            <a:pPr marL="114300" indent="0">
              <a:buNone/>
            </a:pP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Total_appartements_2020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 v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'Appartement'  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'01/01/2020’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nombre de ventes d’appartement par région pour le 1er semestre 2020</a:t>
            </a:r>
          </a:p>
          <a:p>
            <a:pPr marL="85725" indent="0">
              <a:buNone/>
            </a:pP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r.Reg_nom </a:t>
            </a: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Nom_Region,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Code_Region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Nbre_Vente_appartements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 v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b.com_code = c.com_code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c.reg_code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'Appartement’  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'01/01/2020’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</a:t>
            </a:r>
          </a:p>
          <a:p>
            <a:pPr marL="85725" indent="0">
              <a:buNone/>
            </a:pP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r.reg_nom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Nbre_Vente_appartements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</a:p>
        </p:txBody>
      </p:sp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7C33F68A-198A-B0E1-CC5D-B39860D2BA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4A05573-2D58-1620-26DE-F12D02EA6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748" y="929207"/>
            <a:ext cx="2597300" cy="7083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DD85BC-0E06-B39B-3A63-1C4E26630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58" y="2223504"/>
            <a:ext cx="2617366" cy="2279642"/>
          </a:xfrm>
          <a:prstGeom prst="rect">
            <a:avLst/>
          </a:prstGeom>
        </p:spPr>
      </p:pic>
      <p:sp>
        <p:nvSpPr>
          <p:cNvPr id="8" name="Google Shape;269;p34">
            <a:extLst>
              <a:ext uri="{FF2B5EF4-FFF2-40B4-BE49-F238E27FC236}">
                <a16:creationId xmlns:a16="http://schemas.microsoft.com/office/drawing/2014/main" id="{22C6DB7E-18A4-9613-8019-C7009CA9943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</p:spTree>
    <p:extLst>
      <p:ext uri="{BB962C8B-B14F-4D97-AF65-F5344CB8AC3E}">
        <p14:creationId xmlns:p14="http://schemas.microsoft.com/office/powerpoint/2010/main" val="155851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7E32146E-5F81-4CEA-1432-FBE1F6C6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08AD38C1-4BC1-22E0-933B-AFEE2122C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10C69C-A82B-232C-DF89-AE3FDC8F5CC5}"/>
              </a:ext>
            </a:extLst>
          </p:cNvPr>
          <p:cNvSpPr txBox="1"/>
          <p:nvPr/>
        </p:nvSpPr>
        <p:spPr>
          <a:xfrm>
            <a:off x="4401694" y="546275"/>
            <a:ext cx="4633993" cy="4114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 des 10 départements où le prix du mètre carré est le plus élevé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d.Dep_nom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ROUND(AVG(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2) AS Prix_m2_moyen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</a:p>
          <a:p>
            <a:pPr lvl="0">
              <a:lnSpc>
                <a:spcPct val="150000"/>
              </a:lnSpc>
            </a:pP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b.com_code = c.com_code</a:t>
            </a:r>
            <a:b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Departement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d.Code_dep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'01/01/2020’ 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d.Dep_nom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Prix_m2_moyen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 LIMIT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BC0202A-82FE-7106-7C3D-2B351B7A036C}"/>
              </a:ext>
            </a:extLst>
          </p:cNvPr>
          <p:cNvSpPr txBox="1"/>
          <p:nvPr/>
        </p:nvSpPr>
        <p:spPr>
          <a:xfrm>
            <a:off x="172717" y="522200"/>
            <a:ext cx="4156002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Proportion des ventes d’appartements par le nombre de pièces.</a:t>
            </a:r>
            <a:br>
              <a:rPr lang="fr-F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Total_appartements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(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'Appartement’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nb_pieces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COUNT(*) AS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nb_ventes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ROUND(COUNT(*) * 100.0 / ta.Total,2)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Pourcentage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JOIN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Total_appartements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"Appartement« 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</a:t>
            </a:r>
          </a:p>
          <a:p>
            <a:pPr lvl="0"/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ta.total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CAST(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INTEGER) ASC</a:t>
            </a:r>
          </a:p>
        </p:txBody>
      </p:sp>
      <p:sp>
        <p:nvSpPr>
          <p:cNvPr id="12" name="Google Shape;321;p40">
            <a:extLst>
              <a:ext uri="{FF2B5EF4-FFF2-40B4-BE49-F238E27FC236}">
                <a16:creationId xmlns:a16="http://schemas.microsoft.com/office/drawing/2014/main" id="{F28970FB-D9D5-A95F-DB58-65058C7C759A}"/>
              </a:ext>
            </a:extLst>
          </p:cNvPr>
          <p:cNvSpPr txBox="1">
            <a:spLocks/>
          </p:cNvSpPr>
          <p:nvPr/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CF3FF0-D44F-117B-E473-92E98A1CD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691" y="809460"/>
            <a:ext cx="1770375" cy="197492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EEFC40E-9D78-31F3-948D-B196AEA4D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46" y="1796920"/>
            <a:ext cx="1895740" cy="2267266"/>
          </a:xfrm>
          <a:prstGeom prst="rect">
            <a:avLst/>
          </a:prstGeom>
        </p:spPr>
      </p:pic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1D3A58F4-87F5-69CB-26D6-7CC7B7A37B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</p:spTree>
    <p:extLst>
      <p:ext uri="{BB962C8B-B14F-4D97-AF65-F5344CB8AC3E}">
        <p14:creationId xmlns:p14="http://schemas.microsoft.com/office/powerpoint/2010/main" val="368399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AAF8D510-E43C-ED42-2169-0321C6A5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495115B3-487C-D3C4-2D03-7BF0996AFE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0A8DD4-98B4-5C3D-7A1B-0F12064523B5}"/>
              </a:ext>
            </a:extLst>
          </p:cNvPr>
          <p:cNvSpPr txBox="1"/>
          <p:nvPr/>
        </p:nvSpPr>
        <p:spPr>
          <a:xfrm>
            <a:off x="4377349" y="629733"/>
            <a:ext cx="4633993" cy="4337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 des 10 appartements les plus chers avec la région et le nombre de mètres carrés.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r.Reg_nom AS Nom_region,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Nb_pieces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Surface_m2,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2) 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Prix_m2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</a:p>
          <a:p>
            <a:pPr lvl="0">
              <a:lnSpc>
                <a:spcPct val="150000"/>
              </a:lnSpc>
            </a:pP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 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b.com_code = c.com_code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c.Reg_code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'Appartement’ 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'01/01/2020’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</a:t>
            </a:r>
          </a:p>
          <a:p>
            <a:pPr lvl="0">
              <a:lnSpc>
                <a:spcPct val="150000"/>
              </a:lnSpc>
            </a:pP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 LIMIT 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232896D-E602-40C9-6A8D-5EE7E941C8E5}"/>
              </a:ext>
            </a:extLst>
          </p:cNvPr>
          <p:cNvSpPr txBox="1"/>
          <p:nvPr/>
        </p:nvSpPr>
        <p:spPr>
          <a:xfrm>
            <a:off x="228602" y="629733"/>
            <a:ext cx="4231037" cy="416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Prix moyen du mètre carré d’une maison en Île-de-France</a:t>
            </a:r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fr-FR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ROUND(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2)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Prix_m2_maison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 v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 </a:t>
            </a: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b.Com_code = c.Com_code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c.Reg_code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'Maison’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r.Reg_nom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'Ile-de-France’ 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'01/01/2020’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0; </a:t>
            </a:r>
            <a:br>
              <a:rPr lang="fr-FR" sz="1050" dirty="0"/>
            </a:br>
            <a:endParaRPr lang="fr-FR" sz="1050" dirty="0"/>
          </a:p>
          <a:p>
            <a:pPr lvl="0">
              <a:lnSpc>
                <a:spcPct val="150000"/>
              </a:lnSpc>
            </a:pPr>
            <a:endParaRPr lang="fr-F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CI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321;p40">
            <a:extLst>
              <a:ext uri="{FF2B5EF4-FFF2-40B4-BE49-F238E27FC236}">
                <a16:creationId xmlns:a16="http://schemas.microsoft.com/office/drawing/2014/main" id="{1435DA6C-4980-D3C3-6772-564A2A1F96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7185F0A-D67D-80EF-847A-0577ECBF4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29" y="4098321"/>
            <a:ext cx="1531266" cy="5854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D4287BF-434F-CBB3-3D37-E93FE1CD8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852" y="963785"/>
            <a:ext cx="2272607" cy="1234131"/>
          </a:xfrm>
          <a:prstGeom prst="rect">
            <a:avLst/>
          </a:prstGeom>
        </p:spPr>
      </p:pic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2C63934B-A721-6AA3-32A0-31982CB36F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</p:spTree>
    <p:extLst>
      <p:ext uri="{BB962C8B-B14F-4D97-AF65-F5344CB8AC3E}">
        <p14:creationId xmlns:p14="http://schemas.microsoft.com/office/powerpoint/2010/main" val="1604147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164DE143-9AF6-72F1-A854-5DFE389D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31436B5C-DA04-23C1-EB9B-BC52C6317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6BBFEA-F991-8062-F732-D6277C4C5658}"/>
              </a:ext>
            </a:extLst>
          </p:cNvPr>
          <p:cNvSpPr txBox="1"/>
          <p:nvPr/>
        </p:nvSpPr>
        <p:spPr>
          <a:xfrm>
            <a:off x="4388783" y="608231"/>
            <a:ext cx="4633993" cy="4283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classement des régions par rapport au prix au mètre carré des</a:t>
            </a:r>
          </a:p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appartements de plus de 4 pièces.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r.Reg_nom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ROUND(AVG(</a:t>
            </a:r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2) </a:t>
            </a:r>
            <a:b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AS Prix_m2_moyen</a:t>
            </a:r>
            <a:b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</a:p>
          <a:p>
            <a:pPr lvl="0">
              <a:lnSpc>
                <a:spcPct val="150000"/>
              </a:lnSpc>
            </a:pP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</a:t>
            </a:r>
            <a:r>
              <a:rPr lang="fr-F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 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b.Com_code = c.Com_code</a:t>
            </a:r>
            <a:b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fr-F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c.Reg_code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b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'Appartement’ 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4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b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'01/01/2020’ </a:t>
            </a:r>
            <a:b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</a:t>
            </a:r>
            <a:b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r.Reg_code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r.Reg_nom</a:t>
            </a:r>
            <a:b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Prix_m2_moyen </a:t>
            </a: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FB9D896-F4AE-511E-37D1-865EFA8B3547}"/>
              </a:ext>
            </a:extLst>
          </p:cNvPr>
          <p:cNvSpPr txBox="1"/>
          <p:nvPr/>
        </p:nvSpPr>
        <p:spPr>
          <a:xfrm>
            <a:off x="193729" y="608231"/>
            <a:ext cx="4231037" cy="3701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Taux d’évolution du nombre de ventes entre le premier et le second trimestre de 2020.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CI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SUM(CASE </a:t>
            </a:r>
            <a:b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‘31/03/2020'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ELSE 0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Vente_T1, 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SUM(CASE </a:t>
            </a:r>
            <a:b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’01/04/2020'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ELSE 0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Vente_T2,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SUM(CASE </a:t>
            </a:r>
            <a:b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'01/01/2020'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‘31/03/2020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ELSE 0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* 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1.0</a:t>
            </a:r>
          </a:p>
          <a:p>
            <a:pPr lvl="0">
              <a:lnSpc>
                <a:spcPct val="150000"/>
              </a:lnSpc>
            </a:pP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/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NULLIF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SUM(CASE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 ’01/04/2020'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1 ELSE 0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), 0) – 1) * 100, 2)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Taux_Evolution</a:t>
            </a:r>
            <a:endParaRPr lang="fr-CI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 b 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endParaRPr lang="fr-F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'Appartement’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'01/01/2020'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</a:t>
            </a:r>
            <a:endParaRPr lang="fr-CI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321;p40">
            <a:extLst>
              <a:ext uri="{FF2B5EF4-FFF2-40B4-BE49-F238E27FC236}">
                <a16:creationId xmlns:a16="http://schemas.microsoft.com/office/drawing/2014/main" id="{80DA649D-39BB-B20D-1E79-FBD553DE2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35E816-2436-0250-79BF-B5013B0E1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849" y="2147112"/>
            <a:ext cx="2066650" cy="2206367"/>
          </a:xfrm>
          <a:prstGeom prst="rect">
            <a:avLst/>
          </a:prstGeom>
        </p:spPr>
      </p:pic>
      <p:sp>
        <p:nvSpPr>
          <p:cNvPr id="10" name="Google Shape;269;p34">
            <a:extLst>
              <a:ext uri="{FF2B5EF4-FFF2-40B4-BE49-F238E27FC236}">
                <a16:creationId xmlns:a16="http://schemas.microsoft.com/office/drawing/2014/main" id="{C55D6392-B4D3-C778-FC40-7E80273B72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77D0D7D-8693-36D7-8805-17943F9B8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82" y="4271894"/>
            <a:ext cx="241968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FEA87000-E424-B4C4-B8C7-CB140DB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E1CC8631-411F-5858-8DB9-7605D69901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1F3639-C6E5-1B8F-0622-C1A1CCBFA911}"/>
              </a:ext>
            </a:extLst>
          </p:cNvPr>
          <p:cNvSpPr txBox="1"/>
          <p:nvPr/>
        </p:nvSpPr>
        <p:spPr>
          <a:xfrm>
            <a:off x="4323858" y="777954"/>
            <a:ext cx="4831080" cy="4360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Différence en pourcentage du prix au mètre carré entre un</a:t>
            </a:r>
          </a:p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appartement de 2 pièces et un appartement de 3 pièces.</a:t>
            </a:r>
            <a:b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Prix_m2 AS (</a:t>
            </a:r>
            <a:b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CAST(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INTEGER) AS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Nb_pieces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Prix_m2_moyen</a:t>
            </a:r>
            <a:b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</a:p>
          <a:p>
            <a:pPr lvl="0">
              <a:lnSpc>
                <a:spcPct val="150000"/>
              </a:lnSpc>
            </a:pP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JOIN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b.Type_local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'Appartement’ 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b.Surface_carrez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'01/01/2020’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</a:t>
            </a:r>
          </a:p>
          <a:p>
            <a:pPr lvl="0">
              <a:lnSpc>
                <a:spcPct val="150000"/>
              </a:lnSpc>
            </a:pP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CAST(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b.Nombre_pieces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INTEGER)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Pieces_2p, Prix_m2_2p, Pieces_3p, Prix_m2_3p, 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Diff_pourc_3p_vs_2p</a:t>
            </a:r>
            <a:b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p2.Nb_pieces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Pieces_2p, 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ROUND(p2.Prix_m2_moyen, 2) AS Prix_m2_2p,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p3.Nb_pieces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Pieces_3p,                 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ROUND(p3.Prix_m2_moyen, 2) 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Prix_m2_3p,</a:t>
            </a:r>
            <a:b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(p3.Prix_m2_moyen / NULLIF(p2.Prix_m2_moyen,0) - 1) * 100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,2)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Diff_pourc_3p_vs_2p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Prix_m2 p2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JOIN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Prix_m2 p3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p2.Nb_pieces = 2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p3.Nb_pieces = 3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resultat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CI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F25D11-745A-950A-4F35-01DAC3055FB6}"/>
              </a:ext>
            </a:extLst>
          </p:cNvPr>
          <p:cNvSpPr txBox="1"/>
          <p:nvPr/>
        </p:nvSpPr>
        <p:spPr>
          <a:xfrm>
            <a:off x="0" y="781684"/>
            <a:ext cx="423103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Liste des communes ayant eu au moins 50 ventes au 1er trimestre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CI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CI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c.Code_com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COUNT(*) AS Nb_ventes_T1_2020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 b </a:t>
            </a:r>
            <a:r>
              <a:rPr lang="fr-F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</a:t>
            </a:r>
            <a: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b.Com_code = c.Com_code</a:t>
            </a:r>
            <a:br>
              <a:rPr lang="fr-F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‘31/03/2020’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b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CI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c.Code_com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endParaRPr lang="fr-CI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COUNT(*) &gt;= 50</a:t>
            </a:r>
            <a:b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Nb_ventes_T1_2020 </a:t>
            </a:r>
            <a:r>
              <a:rPr lang="fr-CI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fr-C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2" name="Google Shape;321;p40">
            <a:extLst>
              <a:ext uri="{FF2B5EF4-FFF2-40B4-BE49-F238E27FC236}">
                <a16:creationId xmlns:a16="http://schemas.microsoft.com/office/drawing/2014/main" id="{6C55C86B-57C9-303E-F788-345AE1906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A591CC5-3654-7B0F-7A1A-9A8CCF54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28" y="3999295"/>
            <a:ext cx="3084770" cy="357862"/>
          </a:xfrm>
          <a:prstGeom prst="rect">
            <a:avLst/>
          </a:prstGeom>
        </p:spPr>
      </p:pic>
      <p:sp>
        <p:nvSpPr>
          <p:cNvPr id="10" name="Google Shape;269;p34">
            <a:extLst>
              <a:ext uri="{FF2B5EF4-FFF2-40B4-BE49-F238E27FC236}">
                <a16:creationId xmlns:a16="http://schemas.microsoft.com/office/drawing/2014/main" id="{1BC6EDA4-984E-8363-2468-DB98F1CDB24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868D13-0DE6-4ACA-E75E-717C2C966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438" y="1078896"/>
            <a:ext cx="1759599" cy="163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4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5BF1FA7B-AA42-081B-45C4-E353941C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41B2D804-5FB2-808F-FF88-9B318ABF57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8DDE96-B1D8-A84D-5AEB-258D5F34AB93}"/>
              </a:ext>
            </a:extLst>
          </p:cNvPr>
          <p:cNvSpPr txBox="1"/>
          <p:nvPr/>
        </p:nvSpPr>
        <p:spPr>
          <a:xfrm>
            <a:off x="190500" y="589883"/>
            <a:ext cx="4381500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Les moyennes de valeurs foncières pour le top 3 des communes des départements 6, 13, 33, 59 et 69.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ventes_par_commune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fr-CI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SELECT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c.Com_code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 AS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Nb_ventes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 b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JOIN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b.Com_code = c.Com_code</a:t>
            </a:r>
            <a:b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'06’ OR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'13’ OR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'33’ OR  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'59’ OR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'69')</a:t>
            </a:r>
            <a:b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AND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‘30/06/2020’’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GROUP BY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c.Code_dep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c.Com_code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top3_communes </a:t>
            </a:r>
            <a:r>
              <a:rPr lang="fr-CI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fr-CI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Code_dep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Com_code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nb_ventes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ROW_NUMBER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(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BY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Code_dep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nb_ventes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ventes_par_commune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t.Code_dep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Code_Departement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Code_com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Code_Commune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Nom_Commune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ROUND(AVG(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v.Valeur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2) </a:t>
            </a: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Valeur_moyenne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top3_communes t</a:t>
            </a:r>
            <a:b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 ON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t.Com_code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c.Com_code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Bien b ON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c.Com_code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b.Com_code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 ON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b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t.rang</a:t>
            </a:r>
            <a:r>
              <a:rPr lang="fr-CI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3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</a:t>
            </a:r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fr-CI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t.Code_dep</a:t>
            </a:r>
            <a: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c.Code_com</a:t>
            </a:r>
            <a: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b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t.Code_dep</a:t>
            </a:r>
            <a: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I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Valeur_moyenne</a:t>
            </a:r>
            <a: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I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fr-CI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CI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321;p40">
            <a:extLst>
              <a:ext uri="{FF2B5EF4-FFF2-40B4-BE49-F238E27FC236}">
                <a16:creationId xmlns:a16="http://schemas.microsoft.com/office/drawing/2014/main" id="{D01E25F6-0AF7-7CC5-15F8-6C8685285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D530D2AB-DEFB-0EFC-ABD0-199A6A14EC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CC9D9B-01CA-DF2C-E139-71479935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67" y="882286"/>
            <a:ext cx="4534533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68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5F7FEE9D-7786-09DA-4D91-A374A2D2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>
            <a:extLst>
              <a:ext uri="{FF2B5EF4-FFF2-40B4-BE49-F238E27FC236}">
                <a16:creationId xmlns:a16="http://schemas.microsoft.com/office/drawing/2014/main" id="{7F426193-68CB-A8AC-6A28-7886FA8348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EBE27B-890C-0F93-4AC1-F64BC04E901E}"/>
              </a:ext>
            </a:extLst>
          </p:cNvPr>
          <p:cNvSpPr txBox="1"/>
          <p:nvPr/>
        </p:nvSpPr>
        <p:spPr>
          <a:xfrm>
            <a:off x="60960" y="546275"/>
            <a:ext cx="511301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Les 20 communes avec le plus de transactions pour 1000 habitants pour les communes qui dépassent les 10 000 habitants.</a:t>
            </a:r>
            <a:br>
              <a:rPr lang="fr-F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b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c.Code_com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COUNT(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v.id_vente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Nb_transactions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c.Population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population,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ROUND(COUNT(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v.id_vente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1000.0 /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c.population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2) AS tx_par_1000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Vente v</a:t>
            </a:r>
            <a:b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 b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v.id_bien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b.id_bien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Commune c</a:t>
            </a:r>
            <a:r>
              <a:rPr lang="fr-CI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b.Com_code = c.Com_code</a:t>
            </a:r>
            <a:b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c.population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10000</a:t>
            </a:r>
            <a:b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'01/01/2020’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‘30/06/2020’       </a:t>
            </a:r>
            <a:r>
              <a:rPr lang="fr-CI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endParaRPr lang="fr-CI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I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c.Code_com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c.com_nom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CI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c.population</a:t>
            </a:r>
            <a:br>
              <a:rPr lang="fr-CI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I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fr-CI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tx_par_1000 </a:t>
            </a:r>
            <a:r>
              <a:rPr lang="fr-CI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 </a:t>
            </a:r>
            <a:r>
              <a:rPr lang="fr-CI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fr-CI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8" name="Google Shape;321;p40">
            <a:extLst>
              <a:ext uri="{FF2B5EF4-FFF2-40B4-BE49-F238E27FC236}">
                <a16:creationId xmlns:a16="http://schemas.microsoft.com/office/drawing/2014/main" id="{BC73A088-004D-85B1-4276-22D4C9463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858" y="157525"/>
            <a:ext cx="6374488" cy="38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requêtes et les résultats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FBCFCFAE-DD56-C38C-9920-BDFB534CB07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9243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fr-FR" b="1" dirty="0"/>
              <a:t>Créez et utilisez une base de données immobilière avec SQL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B889C38-7ADB-28A9-7A2F-D99B4B04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70" y="845039"/>
            <a:ext cx="3892686" cy="375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21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2286000"/>
            <a:ext cx="3640180" cy="43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Merci !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8862</TotalTime>
  <Words>3245</Words>
  <Application>Microsoft Office PowerPoint</Application>
  <PresentationFormat>Affichage à l'écran (16:9)</PresentationFormat>
  <Paragraphs>164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Times New Roman</vt:lpstr>
      <vt:lpstr>Arial Black</vt:lpstr>
      <vt:lpstr>Arial</vt:lpstr>
      <vt:lpstr>Calibri</vt:lpstr>
      <vt:lpstr>Wingdings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Les requêtes et les résultats</vt:lpstr>
      <vt:lpstr>Présentation PowerPoint</vt:lpstr>
      <vt:lpstr>Les requêtes et les résultats</vt:lpstr>
      <vt:lpstr>Les requêtes et les résultats</vt:lpstr>
      <vt:lpstr>Les requêtes et les résultats</vt:lpstr>
      <vt:lpstr>Les requêtes et les résultats</vt:lpstr>
      <vt:lpstr>Les requêtes et les résultats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Junior BROVOU</dc:creator>
  <cp:lastModifiedBy>Bruno Brovou</cp:lastModifiedBy>
  <cp:revision>10</cp:revision>
  <dcterms:modified xsi:type="dcterms:W3CDTF">2025-06-18T17:31:13Z</dcterms:modified>
</cp:coreProperties>
</file>